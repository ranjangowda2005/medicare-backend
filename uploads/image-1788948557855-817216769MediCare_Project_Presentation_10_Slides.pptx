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629" y="1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457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0" cy="6858000"/>
          </a:xfrm>
          <a:prstGeom prst="rect">
            <a:avLst/>
          </a:prstGeom>
          <a:solidFill>
            <a:srgbClr val="112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143000"/>
            <a:ext cx="3429000" cy="1600438"/>
          </a:xfrm>
          <a:prstGeom prst="rect">
            <a:avLst/>
          </a:prstGeom>
          <a:noFill/>
        </p:spPr>
        <p:txBody>
          <a:bodyPr wrap="square">
            <a:spAutoFit/>
          </a:bodyPr>
          <a:lstStyle/>
          <a:p>
            <a:r>
              <a:rPr sz="3800" b="1" dirty="0" smtClean="0">
                <a:solidFill>
                  <a:srgbClr val="FFFFFF"/>
                </a:solidFill>
                <a:latin typeface="Aptos Display"/>
              </a:rPr>
              <a:t>Medicare</a:t>
            </a:r>
            <a:endParaRPr sz="3800" b="1" dirty="0">
              <a:solidFill>
                <a:srgbClr val="FFFFFF"/>
              </a:solidFill>
              <a:latin typeface="Aptos Display"/>
            </a:endParaRPr>
          </a:p>
          <a:p>
            <a:r>
              <a:rPr sz="2200" dirty="0">
                <a:solidFill>
                  <a:srgbClr val="D2E1FF"/>
                </a:solidFill>
                <a:latin typeface="Aptos"/>
              </a:rPr>
              <a:t>Doctor Appointment Management System</a:t>
            </a:r>
          </a:p>
          <a:p>
            <a:r>
              <a:rPr sz="1600" b="1" dirty="0">
                <a:solidFill>
                  <a:srgbClr val="78C8FF"/>
                </a:solidFill>
              </a:rPr>
              <a:t>MERN Stack Project</a:t>
            </a:r>
          </a:p>
        </p:txBody>
      </p:sp>
      <p:sp>
        <p:nvSpPr>
          <p:cNvPr id="5" name="TextBox 4"/>
          <p:cNvSpPr txBox="1"/>
          <p:nvPr/>
        </p:nvSpPr>
        <p:spPr>
          <a:xfrm>
            <a:off x="731520" y="3246120"/>
            <a:ext cx="3383280" cy="1828800"/>
          </a:xfrm>
          <a:prstGeom prst="rect">
            <a:avLst/>
          </a:prstGeom>
          <a:noFill/>
        </p:spPr>
        <p:txBody>
          <a:bodyPr wrap="square">
            <a:spAutoFit/>
          </a:bodyPr>
          <a:lstStyle/>
          <a:p>
            <a:pPr>
              <a:spcAft>
                <a:spcPts val="1200"/>
              </a:spcAft>
              <a:defRPr sz="1500">
                <a:solidFill>
                  <a:srgbClr val="11233F"/>
                </a:solidFill>
                <a:latin typeface="Aptos"/>
              </a:defRPr>
            </a:pPr>
            <a:r>
              <a:t>• Patient appointment booking</a:t>
            </a:r>
          </a:p>
          <a:p>
            <a:pPr>
              <a:spcAft>
                <a:spcPts val="1200"/>
              </a:spcAft>
              <a:defRPr sz="1500">
                <a:solidFill>
                  <a:srgbClr val="11233F"/>
                </a:solidFill>
                <a:latin typeface="Aptos"/>
              </a:defRPr>
            </a:pPr>
            <a:r>
              <a:t>• Doctor administration</a:t>
            </a:r>
          </a:p>
          <a:p>
            <a:pPr>
              <a:spcAft>
                <a:spcPts val="1200"/>
              </a:spcAft>
              <a:defRPr sz="1500">
                <a:solidFill>
                  <a:srgbClr val="11233F"/>
                </a:solidFill>
                <a:latin typeface="Aptos"/>
              </a:defRPr>
            </a:pPr>
            <a:r>
              <a:t>• Disease and feedback management</a:t>
            </a:r>
          </a:p>
        </p:txBody>
      </p:sp>
      <p:sp>
        <p:nvSpPr>
          <p:cNvPr id="9" name="TextBox 8"/>
          <p:cNvSpPr txBox="1"/>
          <p:nvPr/>
        </p:nvSpPr>
        <p:spPr>
          <a:xfrm>
            <a:off x="731520" y="6126480"/>
            <a:ext cx="1385316" cy="261610"/>
          </a:xfrm>
          <a:prstGeom prst="rect">
            <a:avLst/>
          </a:prstGeom>
          <a:noFill/>
        </p:spPr>
        <p:txBody>
          <a:bodyPr wrap="none">
            <a:spAutoFit/>
          </a:bodyPr>
          <a:lstStyle/>
          <a:p>
            <a:r>
              <a:rPr sz="1100" dirty="0" smtClean="0">
                <a:solidFill>
                  <a:srgbClr val="B4C3DC"/>
                </a:solidFill>
              </a:rPr>
              <a:t> </a:t>
            </a:r>
            <a:r>
              <a:rPr sz="1100" dirty="0">
                <a:solidFill>
                  <a:srgbClr val="B4C3DC"/>
                </a:solidFill>
              </a:rPr>
              <a:t>Project Presentation</a:t>
            </a:r>
          </a:p>
        </p:txBody>
      </p:sp>
      <p:sp>
        <p:nvSpPr>
          <p:cNvPr id="18" name="Title 17"/>
          <p:cNvSpPr>
            <a:spLocks noGrp="1"/>
          </p:cNvSpPr>
          <p:nvPr>
            <p:ph type="ctrTitle"/>
          </p:nvPr>
        </p:nvSpPr>
        <p:spPr>
          <a:xfrm>
            <a:off x="4572000" y="83368"/>
            <a:ext cx="7552943" cy="1470025"/>
          </a:xfrm>
        </p:spPr>
        <p:txBody>
          <a:bodyPr/>
          <a:lstStyle/>
          <a:p>
            <a:r>
              <a:rPr lang="en-IN" dirty="0" smtClean="0"/>
              <a:t>Introduction</a:t>
            </a:r>
            <a:endParaRPr lang="en-IN" dirty="0"/>
          </a:p>
        </p:txBody>
      </p:sp>
      <p:sp>
        <p:nvSpPr>
          <p:cNvPr id="19" name="Subtitle 18"/>
          <p:cNvSpPr>
            <a:spLocks noGrp="1"/>
          </p:cNvSpPr>
          <p:nvPr>
            <p:ph type="subTitle" idx="1"/>
          </p:nvPr>
        </p:nvSpPr>
        <p:spPr>
          <a:xfrm>
            <a:off x="4663439" y="1636761"/>
            <a:ext cx="7528561" cy="4709175"/>
          </a:xfrm>
        </p:spPr>
        <p:txBody>
          <a:bodyPr>
            <a:normAutofit fontScale="70000" lnSpcReduction="20000"/>
          </a:bodyPr>
          <a:lstStyle/>
          <a:p>
            <a:pPr algn="l"/>
            <a:r>
              <a:rPr lang="en-US" dirty="0" smtClean="0">
                <a:solidFill>
                  <a:schemeClr val="tx1"/>
                </a:solidFill>
              </a:rPr>
              <a:t>MediCare is a MERN-based doctor appointment management system designed to make the process of booking and managing medical appointments simple and efficient.</a:t>
            </a:r>
          </a:p>
          <a:p>
            <a:pPr algn="l"/>
            <a:endParaRPr lang="en-US" dirty="0" smtClean="0">
              <a:solidFill>
                <a:schemeClr val="tx1"/>
              </a:solidFill>
            </a:endParaRPr>
          </a:p>
          <a:p>
            <a:pPr algn="l"/>
            <a:r>
              <a:rPr lang="en-US" dirty="0" smtClean="0">
                <a:solidFill>
                  <a:schemeClr val="tx1"/>
                </a:solidFill>
              </a:rPr>
              <a:t>The system provides separate interfaces for patients and doctors. Patients can register, securely log in, view available services, book appointments, check appointment status, and provide feedback after consultation. Doctors can manage appointments, patients, and disease information through a dedicated dashboard.</a:t>
            </a:r>
          </a:p>
          <a:p>
            <a:pPr algn="l"/>
            <a:endParaRPr lang="en-US" dirty="0" smtClean="0">
              <a:solidFill>
                <a:schemeClr val="tx1"/>
              </a:solidFill>
            </a:endParaRPr>
          </a:p>
          <a:p>
            <a:pPr algn="l"/>
            <a:r>
              <a:rPr lang="en-US" dirty="0" smtClean="0">
                <a:solidFill>
                  <a:schemeClr val="tx1"/>
                </a:solidFill>
              </a:rPr>
              <a:t>The main goal of MediCare is to reduce manual appointment management and provide a secure, organized, and user-friendly healthcare platform.</a:t>
            </a:r>
          </a:p>
          <a:p>
            <a:pPr algn="l"/>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User Registration &amp; Login</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Secure entry point for patients</a:t>
            </a:r>
          </a:p>
        </p:txBody>
      </p:sp>
      <p:sp>
        <p:nvSpPr>
          <p:cNvPr id="7" name="Rounded Rectangle 6"/>
          <p:cNvSpPr/>
          <p:nvPr/>
        </p:nvSpPr>
        <p:spPr>
          <a:xfrm>
            <a:off x="457200" y="1188720"/>
            <a:ext cx="5577840" cy="4526279"/>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84542.png"/>
          <p:cNvPicPr>
            <a:picLocks noChangeAspect="1"/>
          </p:cNvPicPr>
          <p:nvPr/>
        </p:nvPicPr>
        <p:blipFill>
          <a:blip r:embed="rId2"/>
          <a:stretch>
            <a:fillRect/>
          </a:stretch>
        </p:blipFill>
        <p:spPr>
          <a:xfrm>
            <a:off x="502920" y="2218138"/>
            <a:ext cx="5486400" cy="2467443"/>
          </a:xfrm>
          <a:prstGeom prst="rect">
            <a:avLst/>
          </a:prstGeom>
        </p:spPr>
      </p:pic>
      <p:sp>
        <p:nvSpPr>
          <p:cNvPr id="9" name="TextBox 8"/>
          <p:cNvSpPr txBox="1"/>
          <p:nvPr/>
        </p:nvSpPr>
        <p:spPr>
          <a:xfrm>
            <a:off x="1828800" y="5779008"/>
            <a:ext cx="2743200" cy="274320"/>
          </a:xfrm>
          <a:prstGeom prst="rect">
            <a:avLst/>
          </a:prstGeom>
          <a:noFill/>
        </p:spPr>
        <p:txBody>
          <a:bodyPr wrap="none">
            <a:spAutoFit/>
          </a:bodyPr>
          <a:lstStyle/>
          <a:p>
            <a:pPr algn="ctr"/>
            <a:r>
              <a:rPr sz="1050" b="1">
                <a:solidFill>
                  <a:srgbClr val="5B6F89"/>
                </a:solidFill>
                <a:latin typeface="Aptos"/>
              </a:rPr>
              <a:t>Patient Registration</a:t>
            </a:r>
          </a:p>
        </p:txBody>
      </p:sp>
      <p:sp>
        <p:nvSpPr>
          <p:cNvPr id="10" name="Rounded Rectangle 9"/>
          <p:cNvSpPr/>
          <p:nvPr/>
        </p:nvSpPr>
        <p:spPr>
          <a:xfrm>
            <a:off x="6172200" y="1188720"/>
            <a:ext cx="5532120" cy="4526279"/>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creenshot 2026-09-09 084605.png"/>
          <p:cNvPicPr>
            <a:picLocks noChangeAspect="1"/>
          </p:cNvPicPr>
          <p:nvPr/>
        </p:nvPicPr>
        <p:blipFill>
          <a:blip r:embed="rId3"/>
          <a:stretch>
            <a:fillRect/>
          </a:stretch>
        </p:blipFill>
        <p:spPr>
          <a:xfrm>
            <a:off x="6217920" y="2220518"/>
            <a:ext cx="5440680" cy="2462683"/>
          </a:xfrm>
          <a:prstGeom prst="rect">
            <a:avLst/>
          </a:prstGeom>
        </p:spPr>
      </p:pic>
      <p:sp>
        <p:nvSpPr>
          <p:cNvPr id="12" name="TextBox 11"/>
          <p:cNvSpPr txBox="1"/>
          <p:nvPr/>
        </p:nvSpPr>
        <p:spPr>
          <a:xfrm>
            <a:off x="7543800" y="5779008"/>
            <a:ext cx="2743200" cy="274320"/>
          </a:xfrm>
          <a:prstGeom prst="rect">
            <a:avLst/>
          </a:prstGeom>
          <a:noFill/>
        </p:spPr>
        <p:txBody>
          <a:bodyPr wrap="none">
            <a:spAutoFit/>
          </a:bodyPr>
          <a:lstStyle/>
          <a:p>
            <a:pPr algn="ctr"/>
            <a:r>
              <a:rPr sz="1050" b="1">
                <a:solidFill>
                  <a:srgbClr val="5B6F89"/>
                </a:solidFill>
                <a:latin typeface="Aptos"/>
              </a:rPr>
              <a:t>Patient Login</a:t>
            </a:r>
          </a:p>
        </p:txBody>
      </p:sp>
      <p:sp>
        <p:nvSpPr>
          <p:cNvPr id="13" name="TextBox 12"/>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Doctors &amp; Healthcare Services</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Patients can explore the available doctor and services before booking</a:t>
            </a:r>
          </a:p>
        </p:txBody>
      </p:sp>
      <p:sp>
        <p:nvSpPr>
          <p:cNvPr id="7" name="Rounded Rectangle 6"/>
          <p:cNvSpPr/>
          <p:nvPr/>
        </p:nvSpPr>
        <p:spPr>
          <a:xfrm>
            <a:off x="457200" y="1188720"/>
            <a:ext cx="5623559" cy="48006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4000.png"/>
          <p:cNvPicPr>
            <a:picLocks noChangeAspect="1"/>
          </p:cNvPicPr>
          <p:nvPr/>
        </p:nvPicPr>
        <p:blipFill>
          <a:blip r:embed="rId2"/>
          <a:stretch>
            <a:fillRect/>
          </a:stretch>
        </p:blipFill>
        <p:spPr>
          <a:xfrm>
            <a:off x="502920" y="1744240"/>
            <a:ext cx="5532120" cy="3689559"/>
          </a:xfrm>
          <a:prstGeom prst="rect">
            <a:avLst/>
          </a:prstGeom>
        </p:spPr>
      </p:pic>
      <p:sp>
        <p:nvSpPr>
          <p:cNvPr id="9" name="TextBox 8"/>
          <p:cNvSpPr txBox="1"/>
          <p:nvPr/>
        </p:nvSpPr>
        <p:spPr>
          <a:xfrm>
            <a:off x="1280160" y="6016752"/>
            <a:ext cx="3977639" cy="274320"/>
          </a:xfrm>
          <a:prstGeom prst="rect">
            <a:avLst/>
          </a:prstGeom>
          <a:noFill/>
        </p:spPr>
        <p:txBody>
          <a:bodyPr wrap="none">
            <a:spAutoFit/>
          </a:bodyPr>
          <a:lstStyle/>
          <a:p>
            <a:pPr algn="ctr"/>
            <a:r>
              <a:rPr sz="1050" b="1" dirty="0">
                <a:solidFill>
                  <a:srgbClr val="5B6F89"/>
                </a:solidFill>
                <a:latin typeface="Aptos"/>
              </a:rPr>
              <a:t>Doctor information and availability</a:t>
            </a:r>
          </a:p>
        </p:txBody>
      </p:sp>
      <p:sp>
        <p:nvSpPr>
          <p:cNvPr id="10" name="Rounded Rectangle 9"/>
          <p:cNvSpPr/>
          <p:nvPr/>
        </p:nvSpPr>
        <p:spPr>
          <a:xfrm>
            <a:off x="6126480" y="1188720"/>
            <a:ext cx="5623559" cy="480060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creenshot 2026-09-09 094031.png"/>
          <p:cNvPicPr>
            <a:picLocks noChangeAspect="1"/>
          </p:cNvPicPr>
          <p:nvPr/>
        </p:nvPicPr>
        <p:blipFill>
          <a:blip r:embed="rId3"/>
          <a:stretch>
            <a:fillRect/>
          </a:stretch>
        </p:blipFill>
        <p:spPr>
          <a:xfrm>
            <a:off x="6172200" y="1905843"/>
            <a:ext cx="5532120" cy="3366353"/>
          </a:xfrm>
          <a:prstGeom prst="rect">
            <a:avLst/>
          </a:prstGeom>
        </p:spPr>
      </p:pic>
      <p:sp>
        <p:nvSpPr>
          <p:cNvPr id="12" name="TextBox 11"/>
          <p:cNvSpPr txBox="1"/>
          <p:nvPr/>
        </p:nvSpPr>
        <p:spPr>
          <a:xfrm>
            <a:off x="7315200" y="6016752"/>
            <a:ext cx="3200400" cy="274320"/>
          </a:xfrm>
          <a:prstGeom prst="rect">
            <a:avLst/>
          </a:prstGeom>
          <a:noFill/>
        </p:spPr>
        <p:txBody>
          <a:bodyPr wrap="none">
            <a:spAutoFit/>
          </a:bodyPr>
          <a:lstStyle/>
          <a:p>
            <a:pPr algn="ctr"/>
            <a:r>
              <a:rPr sz="1050" b="1">
                <a:solidFill>
                  <a:srgbClr val="5B6F89"/>
                </a:solidFill>
                <a:latin typeface="Aptos"/>
              </a:rPr>
              <a:t>Healthcare services</a:t>
            </a:r>
          </a:p>
        </p:txBody>
      </p:sp>
      <p:sp>
        <p:nvSpPr>
          <p:cNvPr id="13" name="TextBox 12"/>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Appointment Booking</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The patient selects date, time, contact number and health description</a:t>
            </a:r>
          </a:p>
        </p:txBody>
      </p:sp>
      <p:sp>
        <p:nvSpPr>
          <p:cNvPr id="7" name="Rounded Rectangle 6"/>
          <p:cNvSpPr/>
          <p:nvPr/>
        </p:nvSpPr>
        <p:spPr>
          <a:xfrm>
            <a:off x="457200" y="1188720"/>
            <a:ext cx="7543800" cy="5166359"/>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0127.png"/>
          <p:cNvPicPr>
            <a:picLocks noChangeAspect="1"/>
          </p:cNvPicPr>
          <p:nvPr/>
        </p:nvPicPr>
        <p:blipFill>
          <a:blip r:embed="rId2"/>
          <a:stretch>
            <a:fillRect/>
          </a:stretch>
        </p:blipFill>
        <p:spPr>
          <a:xfrm>
            <a:off x="502920" y="1825656"/>
            <a:ext cx="7452360" cy="3892487"/>
          </a:xfrm>
          <a:prstGeom prst="rect">
            <a:avLst/>
          </a:prstGeom>
        </p:spPr>
      </p:pic>
      <p:sp>
        <p:nvSpPr>
          <p:cNvPr id="9" name="TextBox 8"/>
          <p:cNvSpPr txBox="1"/>
          <p:nvPr/>
        </p:nvSpPr>
        <p:spPr>
          <a:xfrm>
            <a:off x="8229600" y="1417320"/>
            <a:ext cx="3383280" cy="4389120"/>
          </a:xfrm>
          <a:prstGeom prst="rect">
            <a:avLst/>
          </a:prstGeom>
          <a:noFill/>
        </p:spPr>
        <p:txBody>
          <a:bodyPr wrap="square">
            <a:spAutoFit/>
          </a:bodyPr>
          <a:lstStyle/>
          <a:p>
            <a:pPr>
              <a:spcAft>
                <a:spcPts val="1200"/>
              </a:spcAft>
              <a:defRPr sz="1500">
                <a:solidFill>
                  <a:srgbClr val="11233F"/>
                </a:solidFill>
                <a:latin typeface="Aptos"/>
              </a:defRPr>
            </a:pPr>
            <a:r>
              <a:rPr dirty="0"/>
              <a:t>• Select an appointment date and time.</a:t>
            </a:r>
          </a:p>
          <a:p>
            <a:pPr>
              <a:spcAft>
                <a:spcPts val="1200"/>
              </a:spcAft>
              <a:defRPr sz="1500">
                <a:solidFill>
                  <a:srgbClr val="11233F"/>
                </a:solidFill>
                <a:latin typeface="Aptos"/>
              </a:defRPr>
            </a:pPr>
            <a:r>
              <a:rPr dirty="0"/>
              <a:t>• Time slots are scheduled in 15-minute intervals.</a:t>
            </a:r>
          </a:p>
          <a:p>
            <a:pPr>
              <a:spcAft>
                <a:spcPts val="1200"/>
              </a:spcAft>
              <a:defRPr sz="1500">
                <a:solidFill>
                  <a:srgbClr val="11233F"/>
                </a:solidFill>
                <a:latin typeface="Aptos"/>
              </a:defRPr>
            </a:pPr>
            <a:r>
              <a:rPr dirty="0"/>
              <a:t>• Enter contact details and health concern.</a:t>
            </a:r>
          </a:p>
          <a:p>
            <a:pPr>
              <a:spcAft>
                <a:spcPts val="1200"/>
              </a:spcAft>
              <a:defRPr sz="1500">
                <a:solidFill>
                  <a:srgbClr val="11233F"/>
                </a:solidFill>
                <a:latin typeface="Aptos"/>
              </a:defRPr>
            </a:pPr>
            <a:r>
              <a:rPr dirty="0"/>
              <a:t>• The system checks the selected slot before booking.</a:t>
            </a:r>
          </a:p>
          <a:p>
            <a:pPr>
              <a:spcAft>
                <a:spcPts val="1200"/>
              </a:spcAft>
              <a:defRPr sz="1500">
                <a:solidFill>
                  <a:srgbClr val="11233F"/>
                </a:solidFill>
                <a:latin typeface="Aptos"/>
              </a:defRPr>
            </a:pPr>
            <a:r>
              <a:rPr dirty="0"/>
              <a:t>• New appointments start with Pending status.</a:t>
            </a:r>
          </a:p>
        </p:txBody>
      </p:sp>
      <p:sp>
        <p:nvSpPr>
          <p:cNvPr id="10" name="TextBox 9"/>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Patient Dashboard</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Patients can track their latest appointment and feedback</a:t>
            </a:r>
          </a:p>
        </p:txBody>
      </p:sp>
      <p:sp>
        <p:nvSpPr>
          <p:cNvPr id="7" name="Rounded Rectangle 6"/>
          <p:cNvSpPr/>
          <p:nvPr/>
        </p:nvSpPr>
        <p:spPr>
          <a:xfrm>
            <a:off x="457200" y="1188720"/>
            <a:ext cx="7680960" cy="5166359"/>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0200.png"/>
          <p:cNvPicPr>
            <a:picLocks noChangeAspect="1"/>
          </p:cNvPicPr>
          <p:nvPr/>
        </p:nvPicPr>
        <p:blipFill>
          <a:blip r:embed="rId2"/>
          <a:stretch>
            <a:fillRect/>
          </a:stretch>
        </p:blipFill>
        <p:spPr>
          <a:xfrm>
            <a:off x="502920" y="1461584"/>
            <a:ext cx="7589520" cy="4620631"/>
          </a:xfrm>
          <a:prstGeom prst="rect">
            <a:avLst/>
          </a:prstGeom>
        </p:spPr>
      </p:pic>
      <p:sp>
        <p:nvSpPr>
          <p:cNvPr id="9" name="TextBox 8"/>
          <p:cNvSpPr txBox="1"/>
          <p:nvPr/>
        </p:nvSpPr>
        <p:spPr>
          <a:xfrm>
            <a:off x="8275320" y="1417320"/>
            <a:ext cx="3291840" cy="4389120"/>
          </a:xfrm>
          <a:prstGeom prst="rect">
            <a:avLst/>
          </a:prstGeom>
          <a:noFill/>
        </p:spPr>
        <p:txBody>
          <a:bodyPr wrap="square">
            <a:spAutoFit/>
          </a:bodyPr>
          <a:lstStyle/>
          <a:p>
            <a:pPr>
              <a:spcAft>
                <a:spcPts val="1200"/>
              </a:spcAft>
              <a:defRPr sz="1500">
                <a:solidFill>
                  <a:srgbClr val="11233F"/>
                </a:solidFill>
                <a:latin typeface="Aptos"/>
              </a:defRPr>
            </a:pPr>
            <a:r>
              <a:t>• Displays the latest appointment details.</a:t>
            </a:r>
          </a:p>
          <a:p>
            <a:pPr>
              <a:spcAft>
                <a:spcPts val="1200"/>
              </a:spcAft>
              <a:defRPr sz="1500">
                <a:solidFill>
                  <a:srgbClr val="11233F"/>
                </a:solidFill>
                <a:latin typeface="Aptos"/>
              </a:defRPr>
            </a:pPr>
            <a:r>
              <a:t>• Shows appointment date, time and status.</a:t>
            </a:r>
          </a:p>
          <a:p>
            <a:pPr>
              <a:spcAft>
                <a:spcPts val="1200"/>
              </a:spcAft>
              <a:defRPr sz="1500">
                <a:solidFill>
                  <a:srgbClr val="11233F"/>
                </a:solidFill>
                <a:latin typeface="Aptos"/>
              </a:defRPr>
            </a:pPr>
            <a:r>
              <a:t>• Patients can book another appointment.</a:t>
            </a:r>
          </a:p>
          <a:p>
            <a:pPr>
              <a:spcAft>
                <a:spcPts val="1200"/>
              </a:spcAft>
              <a:defRPr sz="1500">
                <a:solidFill>
                  <a:srgbClr val="11233F"/>
                </a:solidFill>
                <a:latin typeface="Aptos"/>
              </a:defRPr>
            </a:pPr>
            <a:r>
              <a:t>• Feedback can be submitted after completion.</a:t>
            </a:r>
          </a:p>
          <a:p>
            <a:pPr>
              <a:spcAft>
                <a:spcPts val="1200"/>
              </a:spcAft>
              <a:defRPr sz="1500">
                <a:solidFill>
                  <a:srgbClr val="11233F"/>
                </a:solidFill>
                <a:latin typeface="Aptos"/>
              </a:defRPr>
            </a:pPr>
            <a:r>
              <a:t>• Doctor rating is displayed to the patient.</a:t>
            </a:r>
          </a:p>
        </p:txBody>
      </p:sp>
      <p:sp>
        <p:nvSpPr>
          <p:cNvPr id="10" name="TextBox 9"/>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Doctor Dashboard</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Central area for monitoring appointment activity</a:t>
            </a:r>
          </a:p>
        </p:txBody>
      </p:sp>
      <p:sp>
        <p:nvSpPr>
          <p:cNvPr id="7" name="Rounded Rectangle 6"/>
          <p:cNvSpPr/>
          <p:nvPr/>
        </p:nvSpPr>
        <p:spPr>
          <a:xfrm>
            <a:off x="457200" y="1188720"/>
            <a:ext cx="7635240" cy="5074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0359.png"/>
          <p:cNvPicPr>
            <a:picLocks noChangeAspect="1"/>
          </p:cNvPicPr>
          <p:nvPr/>
        </p:nvPicPr>
        <p:blipFill>
          <a:blip r:embed="rId2"/>
          <a:stretch>
            <a:fillRect/>
          </a:stretch>
        </p:blipFill>
        <p:spPr>
          <a:xfrm>
            <a:off x="502920" y="2043362"/>
            <a:ext cx="7543800" cy="3365634"/>
          </a:xfrm>
          <a:prstGeom prst="rect">
            <a:avLst/>
          </a:prstGeom>
        </p:spPr>
      </p:pic>
      <p:sp>
        <p:nvSpPr>
          <p:cNvPr id="9" name="TextBox 8"/>
          <p:cNvSpPr txBox="1"/>
          <p:nvPr/>
        </p:nvSpPr>
        <p:spPr>
          <a:xfrm>
            <a:off x="8229600" y="1554480"/>
            <a:ext cx="3291840" cy="3931920"/>
          </a:xfrm>
          <a:prstGeom prst="rect">
            <a:avLst/>
          </a:prstGeom>
          <a:noFill/>
        </p:spPr>
        <p:txBody>
          <a:bodyPr wrap="square">
            <a:spAutoFit/>
          </a:bodyPr>
          <a:lstStyle/>
          <a:p>
            <a:pPr>
              <a:spcAft>
                <a:spcPts val="1200"/>
              </a:spcAft>
              <a:defRPr sz="1600">
                <a:solidFill>
                  <a:srgbClr val="11233F"/>
                </a:solidFill>
                <a:latin typeface="Aptos"/>
              </a:defRPr>
            </a:pPr>
            <a:r>
              <a:rPr dirty="0"/>
              <a:t>• Shows total appointment activity.</a:t>
            </a:r>
          </a:p>
          <a:p>
            <a:pPr>
              <a:spcAft>
                <a:spcPts val="1200"/>
              </a:spcAft>
              <a:defRPr sz="1600">
                <a:solidFill>
                  <a:srgbClr val="11233F"/>
                </a:solidFill>
                <a:latin typeface="Aptos"/>
              </a:defRPr>
            </a:pPr>
            <a:r>
              <a:rPr dirty="0"/>
              <a:t>• Displays Pending, Accepted and Declined counts.</a:t>
            </a:r>
          </a:p>
          <a:p>
            <a:pPr>
              <a:spcAft>
                <a:spcPts val="1200"/>
              </a:spcAft>
              <a:defRPr sz="1600">
                <a:solidFill>
                  <a:srgbClr val="11233F"/>
                </a:solidFill>
                <a:latin typeface="Aptos"/>
              </a:defRPr>
            </a:pPr>
            <a:r>
              <a:rPr dirty="0"/>
              <a:t>• Provides access to patient and disease modules.</a:t>
            </a:r>
          </a:p>
          <a:p>
            <a:pPr>
              <a:spcAft>
                <a:spcPts val="1200"/>
              </a:spcAft>
              <a:defRPr sz="1600">
                <a:solidFill>
                  <a:srgbClr val="11233F"/>
                </a:solidFill>
                <a:latin typeface="Aptos"/>
              </a:defRPr>
            </a:pPr>
            <a:r>
              <a:rPr dirty="0"/>
              <a:t>• Doctor can monitor incoming appointment requests.</a:t>
            </a:r>
          </a:p>
        </p:txBody>
      </p:sp>
      <p:sp>
        <p:nvSpPr>
          <p:cNvPr id="10" name="TextBox 9"/>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Doctor Appointment Management</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Appointment requests move through controlled status stages</a:t>
            </a:r>
          </a:p>
        </p:txBody>
      </p:sp>
      <p:sp>
        <p:nvSpPr>
          <p:cNvPr id="7" name="Rounded Rectangle 6"/>
          <p:cNvSpPr/>
          <p:nvPr/>
        </p:nvSpPr>
        <p:spPr>
          <a:xfrm>
            <a:off x="365760" y="1825680"/>
            <a:ext cx="5669279" cy="3606076"/>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0422.png"/>
          <p:cNvPicPr>
            <a:picLocks noChangeAspect="1"/>
          </p:cNvPicPr>
          <p:nvPr/>
        </p:nvPicPr>
        <p:blipFill>
          <a:blip r:embed="rId2"/>
          <a:stretch>
            <a:fillRect/>
          </a:stretch>
        </p:blipFill>
        <p:spPr>
          <a:xfrm>
            <a:off x="411480" y="2474903"/>
            <a:ext cx="5577840" cy="2319673"/>
          </a:xfrm>
          <a:prstGeom prst="rect">
            <a:avLst/>
          </a:prstGeom>
        </p:spPr>
      </p:pic>
      <p:sp>
        <p:nvSpPr>
          <p:cNvPr id="9" name="TextBox 8"/>
          <p:cNvSpPr txBox="1"/>
          <p:nvPr/>
        </p:nvSpPr>
        <p:spPr>
          <a:xfrm>
            <a:off x="914400" y="5989320"/>
            <a:ext cx="4572000" cy="274320"/>
          </a:xfrm>
          <a:prstGeom prst="rect">
            <a:avLst/>
          </a:prstGeom>
          <a:noFill/>
        </p:spPr>
        <p:txBody>
          <a:bodyPr wrap="none">
            <a:spAutoFit/>
          </a:bodyPr>
          <a:lstStyle/>
          <a:p>
            <a:pPr algn="ctr"/>
            <a:r>
              <a:rPr sz="1050" b="1">
                <a:solidFill>
                  <a:srgbClr val="5B6F89"/>
                </a:solidFill>
                <a:latin typeface="Aptos"/>
              </a:rPr>
              <a:t>Pending appointment • Accept / Decline</a:t>
            </a:r>
          </a:p>
        </p:txBody>
      </p:sp>
      <p:sp>
        <p:nvSpPr>
          <p:cNvPr id="10" name="Rounded Rectangle 9"/>
          <p:cNvSpPr/>
          <p:nvPr/>
        </p:nvSpPr>
        <p:spPr>
          <a:xfrm>
            <a:off x="6217920" y="1901732"/>
            <a:ext cx="5577839" cy="3530024"/>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creenshot 2026-09-09 090511.png"/>
          <p:cNvPicPr>
            <a:picLocks noChangeAspect="1"/>
          </p:cNvPicPr>
          <p:nvPr/>
        </p:nvPicPr>
        <p:blipFill>
          <a:blip r:embed="rId3"/>
          <a:stretch>
            <a:fillRect/>
          </a:stretch>
        </p:blipFill>
        <p:spPr>
          <a:xfrm>
            <a:off x="6217920" y="2379161"/>
            <a:ext cx="5532120" cy="2511157"/>
          </a:xfrm>
          <a:prstGeom prst="rect">
            <a:avLst/>
          </a:prstGeom>
        </p:spPr>
      </p:pic>
      <p:sp>
        <p:nvSpPr>
          <p:cNvPr id="12" name="TextBox 11"/>
          <p:cNvSpPr txBox="1"/>
          <p:nvPr/>
        </p:nvSpPr>
        <p:spPr>
          <a:xfrm>
            <a:off x="6995160" y="5989320"/>
            <a:ext cx="3931920" cy="274320"/>
          </a:xfrm>
          <a:prstGeom prst="rect">
            <a:avLst/>
          </a:prstGeom>
          <a:noFill/>
        </p:spPr>
        <p:txBody>
          <a:bodyPr wrap="none">
            <a:spAutoFit/>
          </a:bodyPr>
          <a:lstStyle/>
          <a:p>
            <a:pPr algn="ctr"/>
            <a:r>
              <a:rPr sz="1050" b="1">
                <a:solidFill>
                  <a:srgbClr val="5B6F89"/>
                </a:solidFill>
                <a:latin typeface="Aptos"/>
              </a:rPr>
              <a:t>Accepted appointment • Complete</a:t>
            </a:r>
          </a:p>
        </p:txBody>
      </p:sp>
      <p:sp>
        <p:nvSpPr>
          <p:cNvPr id="13" name="TextBox 12"/>
          <p:cNvSpPr txBox="1"/>
          <p:nvPr/>
        </p:nvSpPr>
        <p:spPr>
          <a:xfrm>
            <a:off x="3154680" y="1472183"/>
            <a:ext cx="5212080" cy="292388"/>
          </a:xfrm>
          <a:prstGeom prst="rect">
            <a:avLst/>
          </a:prstGeom>
          <a:noFill/>
        </p:spPr>
        <p:txBody>
          <a:bodyPr wrap="square">
            <a:spAutoFit/>
          </a:bodyPr>
          <a:lstStyle/>
          <a:p>
            <a:pPr algn="ctr"/>
            <a:r>
              <a:rPr sz="1300" b="1" dirty="0">
                <a:solidFill>
                  <a:srgbClr val="1F63FF"/>
                </a:solidFill>
              </a:rPr>
              <a:t>Pending  →  Accepted / Declined  →  Completed</a:t>
            </a:r>
          </a:p>
        </p:txBody>
      </p:sp>
      <p:sp>
        <p:nvSpPr>
          <p:cNvPr id="14" name="TextBox 13"/>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Patient Management</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Doctor can review patient records generated from appointments</a:t>
            </a:r>
          </a:p>
        </p:txBody>
      </p:sp>
      <p:sp>
        <p:nvSpPr>
          <p:cNvPr id="7" name="Rounded Rectangle 6"/>
          <p:cNvSpPr/>
          <p:nvPr/>
        </p:nvSpPr>
        <p:spPr>
          <a:xfrm>
            <a:off x="457201" y="1188720"/>
            <a:ext cx="7324343" cy="4087368"/>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0910.png"/>
          <p:cNvPicPr>
            <a:picLocks noChangeAspect="1"/>
          </p:cNvPicPr>
          <p:nvPr/>
        </p:nvPicPr>
        <p:blipFill>
          <a:blip r:embed="rId2"/>
          <a:stretch>
            <a:fillRect/>
          </a:stretch>
        </p:blipFill>
        <p:spPr>
          <a:xfrm>
            <a:off x="1276341" y="1527048"/>
            <a:ext cx="5803284" cy="3082659"/>
          </a:xfrm>
          <a:prstGeom prst="rect">
            <a:avLst/>
          </a:prstGeom>
        </p:spPr>
      </p:pic>
      <p:sp>
        <p:nvSpPr>
          <p:cNvPr id="9" name="TextBox 8"/>
          <p:cNvSpPr txBox="1"/>
          <p:nvPr/>
        </p:nvSpPr>
        <p:spPr>
          <a:xfrm>
            <a:off x="7910931" y="1714035"/>
            <a:ext cx="4151376" cy="2277547"/>
          </a:xfrm>
          <a:prstGeom prst="rect">
            <a:avLst/>
          </a:prstGeom>
          <a:noFill/>
        </p:spPr>
        <p:txBody>
          <a:bodyPr wrap="square">
            <a:spAutoFit/>
          </a:bodyPr>
          <a:lstStyle/>
          <a:p>
            <a:pPr>
              <a:spcAft>
                <a:spcPts val="1200"/>
              </a:spcAft>
              <a:defRPr sz="1200">
                <a:solidFill>
                  <a:srgbClr val="11233F"/>
                </a:solidFill>
                <a:latin typeface="Aptos"/>
              </a:defRPr>
            </a:pPr>
            <a:r>
              <a:rPr sz="1600" dirty="0"/>
              <a:t>• Displays total and active patient counts.</a:t>
            </a:r>
          </a:p>
          <a:p>
            <a:pPr>
              <a:spcAft>
                <a:spcPts val="1200"/>
              </a:spcAft>
              <a:defRPr sz="1200">
                <a:solidFill>
                  <a:srgbClr val="11233F"/>
                </a:solidFill>
                <a:latin typeface="Aptos"/>
              </a:defRPr>
            </a:pPr>
            <a:r>
              <a:rPr sz="1600" dirty="0"/>
              <a:t>• Shows patient name, email, contact and last visit.</a:t>
            </a:r>
          </a:p>
          <a:p>
            <a:pPr>
              <a:spcAft>
                <a:spcPts val="1200"/>
              </a:spcAft>
              <a:defRPr sz="1200">
                <a:solidFill>
                  <a:srgbClr val="11233F"/>
                </a:solidFill>
                <a:latin typeface="Aptos"/>
              </a:defRPr>
            </a:pPr>
            <a:r>
              <a:rPr sz="1600" dirty="0"/>
              <a:t>• Appointment status is visible for each patient.</a:t>
            </a:r>
          </a:p>
          <a:p>
            <a:pPr>
              <a:spcAft>
                <a:spcPts val="1200"/>
              </a:spcAft>
              <a:defRPr sz="1200">
                <a:solidFill>
                  <a:srgbClr val="11233F"/>
                </a:solidFill>
                <a:latin typeface="Aptos"/>
              </a:defRPr>
            </a:pPr>
            <a:r>
              <a:rPr sz="1600" dirty="0"/>
              <a:t>• Search helps the doctor locate patient records quickly.</a:t>
            </a:r>
          </a:p>
        </p:txBody>
      </p:sp>
      <p:sp>
        <p:nvSpPr>
          <p:cNvPr id="10" name="TextBox 9"/>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Disease Information Management</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Doctor administration page for maintaining medical information</a:t>
            </a:r>
          </a:p>
        </p:txBody>
      </p:sp>
      <p:sp>
        <p:nvSpPr>
          <p:cNvPr id="7" name="Rounded Rectangle 6"/>
          <p:cNvSpPr/>
          <p:nvPr/>
        </p:nvSpPr>
        <p:spPr>
          <a:xfrm>
            <a:off x="457200" y="1188720"/>
            <a:ext cx="7452360" cy="507492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 2026-09-09 090531.png"/>
          <p:cNvPicPr>
            <a:picLocks noChangeAspect="1"/>
          </p:cNvPicPr>
          <p:nvPr/>
        </p:nvPicPr>
        <p:blipFill>
          <a:blip r:embed="rId2"/>
          <a:stretch>
            <a:fillRect/>
          </a:stretch>
        </p:blipFill>
        <p:spPr>
          <a:xfrm>
            <a:off x="502920" y="2065224"/>
            <a:ext cx="7360920" cy="3321910"/>
          </a:xfrm>
          <a:prstGeom prst="rect">
            <a:avLst/>
          </a:prstGeom>
        </p:spPr>
      </p:pic>
      <p:sp>
        <p:nvSpPr>
          <p:cNvPr id="9" name="TextBox 8"/>
          <p:cNvSpPr txBox="1"/>
          <p:nvPr/>
        </p:nvSpPr>
        <p:spPr>
          <a:xfrm>
            <a:off x="8138160" y="1508760"/>
            <a:ext cx="3337560" cy="4389120"/>
          </a:xfrm>
          <a:prstGeom prst="rect">
            <a:avLst/>
          </a:prstGeom>
          <a:noFill/>
        </p:spPr>
        <p:txBody>
          <a:bodyPr wrap="square">
            <a:spAutoFit/>
          </a:bodyPr>
          <a:lstStyle/>
          <a:p>
            <a:pPr>
              <a:spcAft>
                <a:spcPts val="1200"/>
              </a:spcAft>
              <a:defRPr sz="1500">
                <a:solidFill>
                  <a:srgbClr val="11233F"/>
                </a:solidFill>
                <a:latin typeface="Aptos"/>
              </a:defRPr>
            </a:pPr>
            <a:r>
              <a:rPr dirty="0"/>
              <a:t>• Add disease name, descriptions and medical details.</a:t>
            </a:r>
          </a:p>
          <a:p>
            <a:pPr>
              <a:spcAft>
                <a:spcPts val="1200"/>
              </a:spcAft>
              <a:defRPr sz="1500">
                <a:solidFill>
                  <a:srgbClr val="11233F"/>
                </a:solidFill>
                <a:latin typeface="Aptos"/>
              </a:defRPr>
            </a:pPr>
            <a:r>
              <a:rPr dirty="0"/>
              <a:t>• Upload a disease image using the application.</a:t>
            </a:r>
          </a:p>
          <a:p>
            <a:pPr>
              <a:spcAft>
                <a:spcPts val="1200"/>
              </a:spcAft>
              <a:defRPr sz="1500">
                <a:solidFill>
                  <a:srgbClr val="11233F"/>
                </a:solidFill>
                <a:latin typeface="Aptos"/>
              </a:defRPr>
            </a:pPr>
            <a:r>
              <a:rPr dirty="0"/>
              <a:t>• Disease information is stored and displayed to users.</a:t>
            </a:r>
          </a:p>
          <a:p>
            <a:pPr>
              <a:spcAft>
                <a:spcPts val="1200"/>
              </a:spcAft>
              <a:defRPr sz="1500">
                <a:solidFill>
                  <a:srgbClr val="11233F"/>
                </a:solidFill>
                <a:latin typeface="Aptos"/>
              </a:defRPr>
            </a:pPr>
            <a:r>
              <a:rPr dirty="0"/>
              <a:t>• The module supports Create, Read, Update and Delete operations.</a:t>
            </a:r>
          </a:p>
        </p:txBody>
      </p:sp>
      <p:sp>
        <p:nvSpPr>
          <p:cNvPr id="10" name="TextBox 9"/>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F6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9875520" cy="502920"/>
          </a:xfrm>
          <a:prstGeom prst="rect">
            <a:avLst/>
          </a:prstGeom>
          <a:noFill/>
        </p:spPr>
        <p:txBody>
          <a:bodyPr wrap="none">
            <a:spAutoFit/>
          </a:bodyPr>
          <a:lstStyle/>
          <a:p>
            <a:r>
              <a:rPr sz="2700" b="1">
                <a:solidFill>
                  <a:srgbClr val="11233F"/>
                </a:solidFill>
                <a:latin typeface="Aptos Display"/>
              </a:rPr>
              <a:t>Technology, Architecture &amp; Conclusion</a:t>
            </a:r>
          </a:p>
        </p:txBody>
      </p:sp>
      <p:sp>
        <p:nvSpPr>
          <p:cNvPr id="5" name="TextBox 4"/>
          <p:cNvSpPr txBox="1"/>
          <p:nvPr/>
        </p:nvSpPr>
        <p:spPr>
          <a:xfrm>
            <a:off x="612648" y="841248"/>
            <a:ext cx="10515600" cy="320040"/>
          </a:xfrm>
          <a:prstGeom prst="rect">
            <a:avLst/>
          </a:prstGeom>
          <a:noFill/>
        </p:spPr>
        <p:txBody>
          <a:bodyPr wrap="none">
            <a:spAutoFit/>
          </a:bodyPr>
          <a:lstStyle/>
          <a:p>
            <a:r>
              <a:rPr sz="1250">
                <a:solidFill>
                  <a:srgbClr val="5B6F89"/>
                </a:solidFill>
                <a:latin typeface="Aptos"/>
              </a:rPr>
              <a:t>How the MediCare application works</a:t>
            </a:r>
          </a:p>
        </p:txBody>
      </p:sp>
      <p:sp>
        <p:nvSpPr>
          <p:cNvPr id="7" name="Rounded Rectangle 6"/>
          <p:cNvSpPr/>
          <p:nvPr/>
        </p:nvSpPr>
        <p:spPr>
          <a:xfrm>
            <a:off x="594360" y="1325880"/>
            <a:ext cx="2560320" cy="1508760"/>
          </a:xfrm>
          <a:prstGeom prst="roundRect">
            <a:avLst/>
          </a:prstGeom>
          <a:solidFill>
            <a:srgbClr val="F4F8FD"/>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481328"/>
            <a:ext cx="2231136" cy="1188720"/>
          </a:xfrm>
          <a:prstGeom prst="rect">
            <a:avLst/>
          </a:prstGeom>
          <a:noFill/>
        </p:spPr>
        <p:txBody>
          <a:bodyPr wrap="none">
            <a:spAutoFit/>
          </a:bodyPr>
          <a:lstStyle/>
          <a:p>
            <a:r>
              <a:rPr sz="1600" b="1">
                <a:solidFill>
                  <a:srgbClr val="1F63FF"/>
                </a:solidFill>
              </a:rPr>
              <a:t>Frontend</a:t>
            </a:r>
          </a:p>
          <a:p>
            <a:r>
              <a:rPr sz="1150">
                <a:solidFill>
                  <a:srgbClr val="11233F"/>
                </a:solidFill>
              </a:rPr>
              <a:t>React.js
React Router
Tailwind CSS
Axios</a:t>
            </a:r>
          </a:p>
        </p:txBody>
      </p:sp>
      <p:sp>
        <p:nvSpPr>
          <p:cNvPr id="9" name="Rounded Rectangle 8"/>
          <p:cNvSpPr/>
          <p:nvPr/>
        </p:nvSpPr>
        <p:spPr>
          <a:xfrm>
            <a:off x="3520440" y="1325880"/>
            <a:ext cx="2560320" cy="1508760"/>
          </a:xfrm>
          <a:prstGeom prst="roundRect">
            <a:avLst/>
          </a:prstGeom>
          <a:solidFill>
            <a:srgbClr val="F4F8FD"/>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85032" y="1481328"/>
            <a:ext cx="2231136" cy="1188720"/>
          </a:xfrm>
          <a:prstGeom prst="rect">
            <a:avLst/>
          </a:prstGeom>
          <a:noFill/>
        </p:spPr>
        <p:txBody>
          <a:bodyPr wrap="none">
            <a:spAutoFit/>
          </a:bodyPr>
          <a:lstStyle/>
          <a:p>
            <a:r>
              <a:rPr sz="1600" b="1">
                <a:solidFill>
                  <a:srgbClr val="1F63FF"/>
                </a:solidFill>
              </a:rPr>
              <a:t>Backend</a:t>
            </a:r>
          </a:p>
          <a:p>
            <a:r>
              <a:rPr sz="1150">
                <a:solidFill>
                  <a:srgbClr val="11233F"/>
                </a:solidFill>
              </a:rPr>
              <a:t>Node.js
Express.js
REST API
Middleware</a:t>
            </a:r>
          </a:p>
        </p:txBody>
      </p:sp>
      <p:sp>
        <p:nvSpPr>
          <p:cNvPr id="11" name="Rounded Rectangle 10"/>
          <p:cNvSpPr/>
          <p:nvPr/>
        </p:nvSpPr>
        <p:spPr>
          <a:xfrm>
            <a:off x="6446520" y="1325880"/>
            <a:ext cx="2331720" cy="1508760"/>
          </a:xfrm>
          <a:prstGeom prst="roundRect">
            <a:avLst/>
          </a:prstGeom>
          <a:solidFill>
            <a:srgbClr val="F4F8FD"/>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11112" y="1481328"/>
            <a:ext cx="2002536" cy="1188720"/>
          </a:xfrm>
          <a:prstGeom prst="rect">
            <a:avLst/>
          </a:prstGeom>
          <a:noFill/>
        </p:spPr>
        <p:txBody>
          <a:bodyPr wrap="none">
            <a:spAutoFit/>
          </a:bodyPr>
          <a:lstStyle/>
          <a:p>
            <a:r>
              <a:rPr sz="1600" b="1">
                <a:solidFill>
                  <a:srgbClr val="1F63FF"/>
                </a:solidFill>
              </a:rPr>
              <a:t>Database</a:t>
            </a:r>
          </a:p>
          <a:p>
            <a:r>
              <a:rPr sz="1150">
                <a:solidFill>
                  <a:srgbClr val="11233F"/>
                </a:solidFill>
              </a:rPr>
              <a:t>MongoDB
Mongoose</a:t>
            </a:r>
          </a:p>
        </p:txBody>
      </p:sp>
      <p:sp>
        <p:nvSpPr>
          <p:cNvPr id="13" name="Rounded Rectangle 12"/>
          <p:cNvSpPr/>
          <p:nvPr/>
        </p:nvSpPr>
        <p:spPr>
          <a:xfrm>
            <a:off x="9144000" y="1325880"/>
            <a:ext cx="2468880" cy="1508760"/>
          </a:xfrm>
          <a:prstGeom prst="roundRect">
            <a:avLst/>
          </a:prstGeom>
          <a:solidFill>
            <a:srgbClr val="F4F8FD"/>
          </a:solidFill>
          <a:ln>
            <a:solidFill>
              <a:srgbClr val="D7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08592" y="1481328"/>
            <a:ext cx="2139696" cy="1188720"/>
          </a:xfrm>
          <a:prstGeom prst="rect">
            <a:avLst/>
          </a:prstGeom>
          <a:noFill/>
        </p:spPr>
        <p:txBody>
          <a:bodyPr wrap="none">
            <a:spAutoFit/>
          </a:bodyPr>
          <a:lstStyle/>
          <a:p>
            <a:r>
              <a:rPr sz="1600" b="1">
                <a:solidFill>
                  <a:srgbClr val="1F63FF"/>
                </a:solidFill>
              </a:rPr>
              <a:t>Security &amp; Tools</a:t>
            </a:r>
          </a:p>
          <a:p>
            <a:r>
              <a:rPr sz="1150">
                <a:solidFill>
                  <a:srgbClr val="11233F"/>
                </a:solidFill>
              </a:rPr>
              <a:t>JWT • bcrypt
Redis • Multer
localStorage • Git</a:t>
            </a:r>
          </a:p>
        </p:txBody>
      </p:sp>
      <p:sp>
        <p:nvSpPr>
          <p:cNvPr id="15" name="TextBox 14"/>
          <p:cNvSpPr txBox="1"/>
          <p:nvPr/>
        </p:nvSpPr>
        <p:spPr>
          <a:xfrm>
            <a:off x="1005840" y="3246120"/>
            <a:ext cx="10149840" cy="502920"/>
          </a:xfrm>
          <a:prstGeom prst="rect">
            <a:avLst/>
          </a:prstGeom>
          <a:noFill/>
        </p:spPr>
        <p:txBody>
          <a:bodyPr wrap="none">
            <a:spAutoFit/>
          </a:bodyPr>
          <a:lstStyle/>
          <a:p>
            <a:pPr algn="ctr"/>
            <a:r>
              <a:rPr sz="1500" b="1">
                <a:solidFill>
                  <a:srgbClr val="11233F"/>
                </a:solidFill>
              </a:rPr>
              <a:t>React Frontend  →  Axios  →  Express API  →  Authentication  →  Controllers  →  Mongoose  →  MongoDB</a:t>
            </a:r>
          </a:p>
        </p:txBody>
      </p:sp>
      <p:sp>
        <p:nvSpPr>
          <p:cNvPr id="16" name="Rounded Rectangle 15"/>
          <p:cNvSpPr/>
          <p:nvPr/>
        </p:nvSpPr>
        <p:spPr>
          <a:xfrm>
            <a:off x="777240" y="3977639"/>
            <a:ext cx="10652760" cy="1508760"/>
          </a:xfrm>
          <a:prstGeom prst="roundRect">
            <a:avLst/>
          </a:prstGeom>
          <a:solidFill>
            <a:srgbClr val="EBF6FF"/>
          </a:solidFill>
          <a:ln>
            <a:solidFill>
              <a:srgbClr val="BEDC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187952"/>
            <a:ext cx="10058400" cy="1007968"/>
          </a:xfrm>
          <a:prstGeom prst="rect">
            <a:avLst/>
          </a:prstGeom>
          <a:noFill/>
        </p:spPr>
        <p:txBody>
          <a:bodyPr wrap="square">
            <a:spAutoFit/>
          </a:bodyPr>
          <a:lstStyle/>
          <a:p>
            <a:r>
              <a:rPr sz="1900" b="1" dirty="0">
                <a:solidFill>
                  <a:srgbClr val="1F63FF"/>
                </a:solidFill>
              </a:rPr>
              <a:t>Conclusion</a:t>
            </a:r>
          </a:p>
          <a:p>
            <a:r>
              <a:rPr sz="1400" dirty="0">
                <a:solidFill>
                  <a:srgbClr val="11233F"/>
                </a:solidFill>
              </a:rPr>
              <a:t>MediCare provides a simple and secure platform for patient appointment booking and doctor-side management, including appointments, </a:t>
            </a:r>
            <a:r>
              <a:rPr sz="1400" dirty="0" smtClean="0">
                <a:solidFill>
                  <a:srgbClr val="11233F"/>
                </a:solidFill>
              </a:rPr>
              <a:t>patients</a:t>
            </a:r>
            <a:r>
              <a:rPr sz="1400" dirty="0">
                <a:solidFill>
                  <a:srgbClr val="11233F"/>
                </a:solidFill>
              </a:rPr>
              <a:t>, diseases and feedback.</a:t>
            </a:r>
          </a:p>
          <a:p>
            <a:r>
              <a:rPr sz="1250" dirty="0">
                <a:solidFill>
                  <a:srgbClr val="5B6F89"/>
                </a:solidFill>
              </a:rPr>
              <a:t>Future scope: online payments, notifications, video consultation and multiple doctors/departments.</a:t>
            </a:r>
          </a:p>
        </p:txBody>
      </p:sp>
      <p:sp>
        <p:nvSpPr>
          <p:cNvPr id="19" name="TextBox 18"/>
          <p:cNvSpPr txBox="1"/>
          <p:nvPr/>
        </p:nvSpPr>
        <p:spPr>
          <a:xfrm>
            <a:off x="594360" y="6510528"/>
            <a:ext cx="7772400" cy="201168"/>
          </a:xfrm>
          <a:prstGeom prst="rect">
            <a:avLst/>
          </a:prstGeom>
          <a:noFill/>
        </p:spPr>
        <p:txBody>
          <a:bodyPr wrap="none">
            <a:spAutoFit/>
          </a:bodyPr>
          <a:lstStyle/>
          <a:p>
            <a:r>
              <a:rPr sz="850">
                <a:solidFill>
                  <a:srgbClr val="5B6F89"/>
                </a:solidFill>
                <a:latin typeface="Aptos"/>
              </a:rPr>
              <a:t>MediCare • Doctor Appointment Management System</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95344" y="2267712"/>
            <a:ext cx="5038344" cy="1015663"/>
          </a:xfrm>
          <a:prstGeom prst="rect">
            <a:avLst/>
          </a:prstGeom>
          <a:noFill/>
        </p:spPr>
        <p:txBody>
          <a:bodyPr wrap="square">
            <a:spAutoFit/>
          </a:bodyPr>
          <a:lstStyle/>
          <a:p>
            <a:pPr algn="ctr"/>
            <a:r>
              <a:rPr sz="6000" b="1" dirty="0" smtClean="0">
                <a:solidFill>
                  <a:srgbClr val="11233F"/>
                </a:solidFill>
              </a:rPr>
              <a:t>Thank </a:t>
            </a:r>
            <a:r>
              <a:rPr sz="6000" b="1" dirty="0">
                <a:solidFill>
                  <a:srgbClr val="11233F"/>
                </a:solidFill>
              </a:rPr>
              <a:t>You </a:t>
            </a:r>
          </a:p>
        </p:txBody>
      </p:sp>
    </p:spTree>
    <p:extLst>
      <p:ext uri="{BB962C8B-B14F-4D97-AF65-F5344CB8AC3E}">
        <p14:creationId xmlns:p14="http://schemas.microsoft.com/office/powerpoint/2010/main" val="32195588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131</TotalTime>
  <Words>560</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cp:lastModifiedBy>
  <cp:revision>6</cp:revision>
  <dcterms:created xsi:type="dcterms:W3CDTF">2013-01-27T09:14:16Z</dcterms:created>
  <dcterms:modified xsi:type="dcterms:W3CDTF">2026-09-09T06:26:00Z</dcterms:modified>
  <cp:category/>
</cp:coreProperties>
</file>